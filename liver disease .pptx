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4.xml"/>
  <Override ContentType="application/vnd.openxmlformats-officedocument.theme+xml" PartName="/ppt/theme/theme1.xml"/>
  <Override ContentType="application/vnd.openxmlformats-officedocument.presentationml.viewProps+xml" PartName="/ppt/viewProps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10287000" cx="18288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4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4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4.xml"/><Relationship Id="rId3" Type="http://schemas.openxmlformats.org/officeDocument/2006/relationships/presProps" Target="presProps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Relationship Id="rId3" Target="../media/image1.png" Type="http://schemas.openxmlformats.org/officeDocument/2006/relationships/image"/><Relationship Id="rId4" Target="../media/image11.png" Type="http://schemas.openxmlformats.org/officeDocument/2006/relationships/image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C4241"/>
          </a:solidFill>
          <a:ln>
            <a:noFill/>
          </a:ln>
        </p:spPr>
      </p:sp>
      <p:sp>
        <p:nvSpPr>
          <p:cNvPr id="108" name="Google Shape;108;p1"/>
          <p:cNvSpPr/>
          <p:nvPr/>
        </p:nvSpPr>
        <p:spPr>
          <a:xfrm>
            <a:off x="-129588" y="663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23332"/>
          </a:solidFill>
          <a:ln>
            <a:noFill/>
          </a:ln>
        </p:spPr>
      </p:sp>
      <p:sp>
        <p:nvSpPr>
          <p:cNvPr descr="preencoded.png" id="109" name="Google Shape;109;p1"/>
          <p:cNvSpPr/>
          <p:nvPr/>
        </p:nvSpPr>
        <p:spPr>
          <a:xfrm>
            <a:off x="11430000" y="0"/>
            <a:ext cx="6858000" cy="10288334"/>
          </a:xfrm>
          <a:custGeom>
            <a:rect b="b" l="l" r="r" t="t"/>
            <a:pathLst>
              <a:path extrusionOk="0" h="13717778" w="9144000">
                <a:moveTo>
                  <a:pt x="0" y="0"/>
                </a:moveTo>
                <a:lnTo>
                  <a:pt x="9144000" y="0"/>
                </a:lnTo>
                <a:lnTo>
                  <a:pt x="9144000" y="13717778"/>
                </a:lnTo>
                <a:lnTo>
                  <a:pt x="0" y="13717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-9" r="0" t="0"/>
            </a:stretch>
          </a:blipFill>
          <a:ln>
            <a:noFill/>
          </a:ln>
        </p:spPr>
      </p:sp>
      <p:sp>
        <p:nvSpPr>
          <p:cNvPr descr="preencoded.png" id="110" name="Google Shape;110;p1"/>
          <p:cNvSpPr/>
          <p:nvPr/>
        </p:nvSpPr>
        <p:spPr>
          <a:xfrm>
            <a:off x="11791950" y="1200750"/>
            <a:ext cx="6113653" cy="8281035"/>
          </a:xfrm>
          <a:custGeom>
            <a:rect b="b" l="l" r="r" t="t"/>
            <a:pathLst>
              <a:path extrusionOk="0" h="10515600" w="8178800">
                <a:moveTo>
                  <a:pt x="0" y="0"/>
                </a:moveTo>
                <a:lnTo>
                  <a:pt x="8178800" y="0"/>
                </a:lnTo>
                <a:lnTo>
                  <a:pt x="8178800" y="10515600"/>
                </a:lnTo>
                <a:lnTo>
                  <a:pt x="0" y="10515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" r="0" t="0"/>
            </a:stretch>
          </a:blipFill>
          <a:ln>
            <a:noFill/>
          </a:ln>
        </p:spPr>
      </p:sp>
      <p:sp>
        <p:nvSpPr>
          <p:cNvPr id="111" name="Google Shape;111;p1"/>
          <p:cNvSpPr txBox="1"/>
          <p:nvPr/>
        </p:nvSpPr>
        <p:spPr>
          <a:xfrm>
            <a:off x="1013371" y="748605"/>
            <a:ext cx="9403200" cy="23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423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7375"/>
              <a:buFont typeface="Quattrocento"/>
              <a:buNone/>
            </a:pPr>
            <a:r>
              <a:rPr b="0" i="0" lang="en-US" sz="7375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Liver Disease Prediction 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1013371" y="3552527"/>
            <a:ext cx="55815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988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4250"/>
              <a:buFont typeface="Quattrocento"/>
              <a:buNone/>
            </a:pPr>
            <a:r>
              <a:rPr b="0" i="0" lang="en-US" sz="425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A Classification Project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1013371" y="4677519"/>
            <a:ext cx="4088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478"/>
              </a:lnSpc>
              <a:spcBef>
                <a:spcPts val="0"/>
              </a:spcBef>
              <a:spcAft>
                <a:spcPts val="0"/>
              </a:spcAft>
              <a:buClr>
                <a:srgbClr val="FFD9BE"/>
              </a:buClr>
              <a:buSzPts val="3187"/>
              <a:buFont typeface="Quattrocento"/>
              <a:buNone/>
            </a:pPr>
            <a:r>
              <a:rPr b="0" i="0" lang="en-US" sz="3187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Group No - 05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1013371" y="6241907"/>
            <a:ext cx="94032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1411" lvl="0" marL="457200" marR="0" rtl="0" algn="l">
              <a:lnSpc>
                <a:spcPct val="161138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49"/>
              <a:buFont typeface="Quattrocento"/>
              <a:buChar char="●"/>
            </a:pPr>
            <a:r>
              <a:rPr b="0" i="0" lang="en-US" sz="2249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Kallem Sai Rohan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1013363" y="7097458"/>
            <a:ext cx="94032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1411" lvl="0" marL="457200" marR="0" rtl="0" algn="l">
              <a:lnSpc>
                <a:spcPct val="161138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49"/>
              <a:buFont typeface="Quattrocento"/>
              <a:buChar char="●"/>
            </a:pPr>
            <a:r>
              <a:rPr b="0" i="0" lang="en-US" sz="2249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ALAM NAWAZ SHA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1013377" y="7953005"/>
            <a:ext cx="94032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1411" lvl="0" marL="457200" marR="0" rtl="0" algn="l">
              <a:lnSpc>
                <a:spcPct val="161138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49"/>
              <a:buFont typeface="Quattrocento"/>
              <a:buChar char="●"/>
            </a:pPr>
            <a:r>
              <a:rPr b="0" i="0" lang="en-US" sz="2249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Chintanippula Teja</a:t>
            </a:r>
            <a:endParaRPr b="0" i="0" sz="2249" u="none" cap="none" strike="noStrike">
              <a:solidFill>
                <a:srgbClr val="F9EEE7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indent="0" lvl="0" marL="0" marR="0" rtl="0" algn="l">
              <a:lnSpc>
                <a:spcPct val="1611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9"/>
              <a:buFont typeface="Arial"/>
              <a:buNone/>
            </a:pPr>
            <a:r>
              <a:t/>
            </a:r>
            <a:endParaRPr b="0" i="0" sz="2249" u="none" cap="none" strike="noStrike">
              <a:solidFill>
                <a:srgbClr val="F9EEE7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indent="0" lvl="0" marL="1828800" marR="0" rtl="0" algn="l">
              <a:lnSpc>
                <a:spcPct val="1611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9"/>
              <a:buFont typeface="Arial"/>
              <a:buNone/>
            </a:pPr>
            <a:r>
              <a:t/>
            </a:r>
            <a:endParaRPr b="0" i="0" sz="2249" u="none" cap="none" strike="noStrike">
              <a:solidFill>
                <a:srgbClr val="F9EEE7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1013371" y="5486545"/>
            <a:ext cx="94032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1411" lvl="0" marL="457200" marR="0" rtl="0" algn="l">
              <a:lnSpc>
                <a:spcPct val="161138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49"/>
              <a:buFont typeface="Quattrocento"/>
              <a:buChar char="●"/>
            </a:pPr>
            <a:r>
              <a:rPr b="0" i="0" lang="en-US" sz="2249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Janhavi Dusad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1013377" y="8780055"/>
            <a:ext cx="94032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71411" lvl="0" marL="457200" marR="0" rtl="0" algn="l">
              <a:lnSpc>
                <a:spcPct val="161138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249"/>
              <a:buFont typeface="Quattrocento"/>
              <a:buChar char="●"/>
            </a:pPr>
            <a:r>
              <a:rPr lang="en-US" sz="224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Kiran Godbole</a:t>
            </a:r>
            <a:endParaRPr b="0" i="0" sz="2249" u="none" cap="none" strike="noStrike">
              <a:solidFill>
                <a:srgbClr val="F9EEE7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indent="0" lvl="0" marL="0" marR="0" rtl="0" algn="l">
              <a:lnSpc>
                <a:spcPct val="1611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9"/>
              <a:buFont typeface="Arial"/>
              <a:buNone/>
            </a:pPr>
            <a:r>
              <a:t/>
            </a:r>
            <a:endParaRPr b="0" i="0" sz="2249" u="none" cap="none" strike="noStrike">
              <a:solidFill>
                <a:srgbClr val="F9EEE7"/>
              </a:solidFill>
              <a:latin typeface="Quattrocento"/>
              <a:ea typeface="Quattrocento"/>
              <a:cs typeface="Quattrocento"/>
              <a:sym typeface="Quattrocento"/>
            </a:endParaRPr>
          </a:p>
          <a:p>
            <a:pPr indent="0" lvl="0" marL="1828800" marR="0" rtl="0" algn="l">
              <a:lnSpc>
                <a:spcPct val="1611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9"/>
              <a:buFont typeface="Arial"/>
              <a:buNone/>
            </a:pPr>
            <a:r>
              <a:t/>
            </a:r>
            <a:endParaRPr b="0" i="0" sz="2249" u="none" cap="none" strike="noStrike">
              <a:solidFill>
                <a:srgbClr val="F9EEE7"/>
              </a:solidFill>
              <a:latin typeface="Quattrocento"/>
              <a:ea typeface="Quattrocento"/>
              <a:cs typeface="Quattrocento"/>
              <a:sym typeface="Quattrocento"/>
            </a:endParaR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5" y="2900214"/>
            <a:ext cx="7040612" cy="90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Business Objective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155" y="4257526"/>
            <a:ext cx="5198417" cy="3100536"/>
            <a:chOff x="0" y="0"/>
            <a:chExt cx="6931223" cy="41340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31152" cy="4133977"/>
            </a:xfrm>
            <a:custGeom>
              <a:avLst/>
              <a:gdLst/>
              <a:ahLst/>
              <a:cxnLst/>
              <a:rect r="r" b="b" t="t" l="l"/>
              <a:pathLst>
                <a:path h="4133977" w="6931152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6871335" y="0"/>
                  </a:lnTo>
                  <a:cubicBezTo>
                    <a:pt x="6904355" y="0"/>
                    <a:pt x="6931152" y="26797"/>
                    <a:pt x="6931152" y="59817"/>
                  </a:cubicBezTo>
                  <a:lnTo>
                    <a:pt x="6931152" y="4074160"/>
                  </a:lnTo>
                  <a:cubicBezTo>
                    <a:pt x="6931152" y="4107180"/>
                    <a:pt x="6904355" y="4133977"/>
                    <a:pt x="6871335" y="4133977"/>
                  </a:cubicBezTo>
                  <a:lnTo>
                    <a:pt x="59817" y="4133977"/>
                  </a:lnTo>
                  <a:cubicBezTo>
                    <a:pt x="26797" y="4133977"/>
                    <a:pt x="0" y="4107180"/>
                    <a:pt x="0" y="4074160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46299" y="4537621"/>
            <a:ext cx="4224338" cy="54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Categorical Prediction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6299" y="5140226"/>
            <a:ext cx="4600129" cy="132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293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Predicting liver disease status.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44716" y="4257526"/>
            <a:ext cx="5198417" cy="3100536"/>
            <a:chOff x="0" y="0"/>
            <a:chExt cx="6931223" cy="41340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31152" cy="4133977"/>
            </a:xfrm>
            <a:custGeom>
              <a:avLst/>
              <a:gdLst/>
              <a:ahLst/>
              <a:cxnLst/>
              <a:rect r="r" b="b" t="t" l="l"/>
              <a:pathLst>
                <a:path h="4133977" w="6931152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6871335" y="0"/>
                  </a:lnTo>
                  <a:cubicBezTo>
                    <a:pt x="6904355" y="0"/>
                    <a:pt x="6931152" y="26797"/>
                    <a:pt x="6931152" y="59817"/>
                  </a:cubicBezTo>
                  <a:lnTo>
                    <a:pt x="6931152" y="4074160"/>
                  </a:lnTo>
                  <a:cubicBezTo>
                    <a:pt x="6931152" y="4107180"/>
                    <a:pt x="6904355" y="4133977"/>
                    <a:pt x="6871335" y="4133977"/>
                  </a:cubicBezTo>
                  <a:lnTo>
                    <a:pt x="59817" y="4133977"/>
                  </a:lnTo>
                  <a:cubicBezTo>
                    <a:pt x="26797" y="4133977"/>
                    <a:pt x="0" y="4107180"/>
                    <a:pt x="0" y="4074160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843861" y="4537621"/>
            <a:ext cx="4224338" cy="54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Disease Categories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43861" y="5140226"/>
            <a:ext cx="4600129" cy="1918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293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No disease, suspect, hepatitis C, fibrosis, cirrhosis.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42279" y="4257526"/>
            <a:ext cx="5198566" cy="3100536"/>
            <a:chOff x="0" y="0"/>
            <a:chExt cx="6931422" cy="413404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31406" cy="4133977"/>
            </a:xfrm>
            <a:custGeom>
              <a:avLst/>
              <a:gdLst/>
              <a:ahLst/>
              <a:cxnLst/>
              <a:rect r="r" b="b" t="t" l="l"/>
              <a:pathLst>
                <a:path h="4133977" w="6931406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6871589" y="0"/>
                  </a:lnTo>
                  <a:cubicBezTo>
                    <a:pt x="6904609" y="0"/>
                    <a:pt x="6931406" y="26797"/>
                    <a:pt x="6931406" y="59817"/>
                  </a:cubicBezTo>
                  <a:lnTo>
                    <a:pt x="6931406" y="4074160"/>
                  </a:lnTo>
                  <a:cubicBezTo>
                    <a:pt x="6931406" y="4107180"/>
                    <a:pt x="6904609" y="4133977"/>
                    <a:pt x="6871589" y="4133977"/>
                  </a:cubicBezTo>
                  <a:lnTo>
                    <a:pt x="59817" y="4133977"/>
                  </a:lnTo>
                  <a:cubicBezTo>
                    <a:pt x="26797" y="4133977"/>
                    <a:pt x="0" y="4107180"/>
                    <a:pt x="0" y="4074160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341424" y="4537621"/>
            <a:ext cx="4224338" cy="546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Classification Task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41424" y="5140226"/>
            <a:ext cx="4600277" cy="132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293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This is a classification project.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5" y="2853481"/>
            <a:ext cx="7040612" cy="90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7155" y="4265265"/>
            <a:ext cx="16193690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This project is all about: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155" y="5080546"/>
            <a:ext cx="16193690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Using information to predict liver disease.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155" y="5663952"/>
            <a:ext cx="16193690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Developing a way to help doctors identify liver conditions early.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155" y="6247359"/>
            <a:ext cx="16193690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Identifying conditions such as no disease, suspect cases, hepatitis C, fibrosis, or cirrhosis.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155" y="6830765"/>
            <a:ext cx="16193690" cy="57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8754" indent="-174377" lvl="1">
              <a:lnSpc>
                <a:spcPts val="3750"/>
              </a:lnSpc>
              <a:buFont typeface="Arial"/>
              <a:buChar char="•"/>
            </a:pPr>
            <a:r>
              <a:rPr lang="en-US" sz="2312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Improving patient health and saving lives through earlier and faster treatment.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4767" y="743842"/>
            <a:ext cx="6687591" cy="874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5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Data Set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4767" y="2204591"/>
            <a:ext cx="7802612" cy="55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Category (target variable)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4767" y="2758828"/>
            <a:ext cx="7802612" cy="55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4767" y="3313062"/>
            <a:ext cx="7802612" cy="55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Sex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4767" y="3867299"/>
            <a:ext cx="7802612" cy="55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Albumin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4767" y="4421535"/>
            <a:ext cx="7802612" cy="55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Alkaline Phosphatase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4767" y="4975771"/>
            <a:ext cx="7802612" cy="55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ALT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4767" y="5530006"/>
            <a:ext cx="7802612" cy="55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4767" y="6084242"/>
            <a:ext cx="7802612" cy="55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Bilirubin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4767" y="6638479"/>
            <a:ext cx="7802612" cy="55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Cholinesterase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4767" y="7192715"/>
            <a:ext cx="7802612" cy="55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Cholesterol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4767" y="7746950"/>
            <a:ext cx="7802612" cy="55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Creatinine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4767" y="8301186"/>
            <a:ext cx="7802612" cy="55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Protein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4767" y="8855422"/>
            <a:ext cx="7802612" cy="55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GGT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00146" y="2639169"/>
            <a:ext cx="3723680" cy="80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5"/>
              </a:lnSpc>
            </a:pPr>
            <a:r>
              <a:rPr lang="en-US" sz="737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615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90050" y="3779788"/>
            <a:ext cx="3343721" cy="43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6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Rows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79077" y="2639169"/>
            <a:ext cx="3723680" cy="80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5"/>
              </a:lnSpc>
            </a:pPr>
            <a:r>
              <a:rPr lang="en-US" sz="737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68982" y="3779788"/>
            <a:ext cx="3343721" cy="43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6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Columns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00146" y="5060454"/>
            <a:ext cx="3723680" cy="80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5"/>
              </a:lnSpc>
            </a:pPr>
            <a:r>
              <a:rPr lang="en-US" sz="737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90050" y="6201072"/>
            <a:ext cx="3343721" cy="43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6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Categorical Variable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00146" y="6836420"/>
            <a:ext cx="3723680" cy="44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1750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(Sex)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579077" y="5060454"/>
            <a:ext cx="3723680" cy="804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5"/>
              </a:lnSpc>
            </a:pPr>
            <a:r>
              <a:rPr lang="en-US" sz="737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68982" y="6201072"/>
            <a:ext cx="3343721" cy="43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625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Numeric Variables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47155" y="912911"/>
            <a:ext cx="7964686" cy="908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Data Preprocessing Steps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13830" y="2419945"/>
            <a:ext cx="16060191" cy="6925567"/>
            <a:chOff x="0" y="0"/>
            <a:chExt cx="21413588" cy="9234090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1413597" cy="9234043"/>
            </a:xfrm>
            <a:custGeom>
              <a:avLst/>
              <a:gdLst/>
              <a:ahLst/>
              <a:cxnLst/>
              <a:rect r="r" b="b" t="t" l="l"/>
              <a:pathLst>
                <a:path h="9234043" w="21413597">
                  <a:moveTo>
                    <a:pt x="0" y="0"/>
                  </a:moveTo>
                  <a:lnTo>
                    <a:pt x="21413597" y="0"/>
                  </a:lnTo>
                  <a:lnTo>
                    <a:pt x="21413597" y="9234043"/>
                  </a:lnTo>
                  <a:lnTo>
                    <a:pt x="0" y="9234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" t="0" r="-3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194470" y="7779829"/>
            <a:ext cx="3428975" cy="46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3"/>
              </a:lnSpc>
            </a:pPr>
            <a:r>
              <a:rPr lang="en-US" sz="2962" b="true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Feature Scaling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94470" y="8328221"/>
            <a:ext cx="8825460" cy="35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212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(all numerical columns)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4470" y="6176671"/>
            <a:ext cx="3428975" cy="46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3"/>
              </a:lnSpc>
            </a:pPr>
            <a:r>
              <a:rPr lang="en-US" sz="2962" b="true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Outlier Detection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94470" y="6725064"/>
            <a:ext cx="8825460" cy="35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212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(numerical columns like Age, Albumin, Cholesterol)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94470" y="4562933"/>
            <a:ext cx="4028380" cy="46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960" b="true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Missing Value Analysis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94470" y="5138100"/>
            <a:ext cx="8825460" cy="35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212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(check Age, Albumin, ALT, AST, etc.)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94470" y="2986551"/>
            <a:ext cx="3428975" cy="461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3"/>
              </a:lnSpc>
            </a:pPr>
            <a:r>
              <a:rPr lang="en-US" sz="2962" b="true">
                <a:solidFill>
                  <a:srgbClr val="000000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Data Loading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94470" y="3549079"/>
            <a:ext cx="8825460" cy="35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</a:pPr>
            <a:r>
              <a:rPr lang="en-US" sz="2212">
                <a:solidFill>
                  <a:srgbClr val="000000"/>
                </a:solidFill>
                <a:latin typeface="Quattrocento"/>
                <a:ea typeface="Quattrocento"/>
                <a:cs typeface="Quattrocento"/>
                <a:sym typeface="Quattrocento"/>
              </a:rPr>
              <a:t>(all 13 columns)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94995" y="-456468"/>
            <a:ext cx="19402598" cy="10913961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01699" y="1551027"/>
            <a:ext cx="5647135" cy="1685776"/>
            <a:chOff x="0" y="0"/>
            <a:chExt cx="7529513" cy="22477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529576" cy="2247773"/>
            </a:xfrm>
            <a:custGeom>
              <a:avLst/>
              <a:gdLst/>
              <a:ahLst/>
              <a:cxnLst/>
              <a:rect r="r" b="b" t="t" l="l"/>
              <a:pathLst>
                <a:path h="2247773" w="7529576">
                  <a:moveTo>
                    <a:pt x="0" y="29972"/>
                  </a:moveTo>
                  <a:cubicBezTo>
                    <a:pt x="0" y="13335"/>
                    <a:pt x="13335" y="0"/>
                    <a:pt x="29972" y="0"/>
                  </a:cubicBezTo>
                  <a:lnTo>
                    <a:pt x="7499604" y="0"/>
                  </a:lnTo>
                  <a:cubicBezTo>
                    <a:pt x="7516114" y="0"/>
                    <a:pt x="7529576" y="13335"/>
                    <a:pt x="7529576" y="29972"/>
                  </a:cubicBezTo>
                  <a:lnTo>
                    <a:pt x="7529576" y="2217801"/>
                  </a:lnTo>
                  <a:cubicBezTo>
                    <a:pt x="7529576" y="2234311"/>
                    <a:pt x="7516241" y="2247773"/>
                    <a:pt x="7499604" y="2247773"/>
                  </a:cubicBezTo>
                  <a:lnTo>
                    <a:pt x="29972" y="2247773"/>
                  </a:lnTo>
                  <a:cubicBezTo>
                    <a:pt x="13462" y="2247773"/>
                    <a:pt x="0" y="2234438"/>
                    <a:pt x="0" y="2217801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0182" y="1738739"/>
            <a:ext cx="448716" cy="448716"/>
            <a:chOff x="0" y="0"/>
            <a:chExt cx="598288" cy="5982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ADD8E6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73560" y="1846882"/>
            <a:ext cx="201960" cy="252412"/>
            <a:chOff x="0" y="0"/>
            <a:chExt cx="269280" cy="33655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269240" cy="336550"/>
            </a:xfrm>
            <a:custGeom>
              <a:avLst/>
              <a:gdLst/>
              <a:ahLst/>
              <a:cxnLst/>
              <a:rect r="r" b="b" t="t" l="l"/>
              <a:pathLst>
                <a:path h="336550" w="269240">
                  <a:moveTo>
                    <a:pt x="0" y="0"/>
                  </a:moveTo>
                  <a:lnTo>
                    <a:pt x="269240" y="0"/>
                  </a:lnTo>
                  <a:lnTo>
                    <a:pt x="269240" y="336550"/>
                  </a:lnTo>
                  <a:lnTo>
                    <a:pt x="0" y="336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36" r="-14" b="-143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395070" y="1524372"/>
            <a:ext cx="5647284" cy="1685776"/>
            <a:chOff x="0" y="0"/>
            <a:chExt cx="7529712" cy="22477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529830" cy="2247773"/>
            </a:xfrm>
            <a:custGeom>
              <a:avLst/>
              <a:gdLst/>
              <a:ahLst/>
              <a:cxnLst/>
              <a:rect r="r" b="b" t="t" l="l"/>
              <a:pathLst>
                <a:path h="2247773" w="7529830">
                  <a:moveTo>
                    <a:pt x="0" y="29972"/>
                  </a:moveTo>
                  <a:cubicBezTo>
                    <a:pt x="0" y="13335"/>
                    <a:pt x="13335" y="0"/>
                    <a:pt x="29972" y="0"/>
                  </a:cubicBezTo>
                  <a:lnTo>
                    <a:pt x="7499858" y="0"/>
                  </a:lnTo>
                  <a:cubicBezTo>
                    <a:pt x="7516368" y="0"/>
                    <a:pt x="7529830" y="13335"/>
                    <a:pt x="7529830" y="29972"/>
                  </a:cubicBezTo>
                  <a:lnTo>
                    <a:pt x="7529830" y="2217801"/>
                  </a:lnTo>
                  <a:cubicBezTo>
                    <a:pt x="7529830" y="2234311"/>
                    <a:pt x="7516495" y="2247773"/>
                    <a:pt x="7499858" y="2247773"/>
                  </a:cubicBezTo>
                  <a:lnTo>
                    <a:pt x="29972" y="2247773"/>
                  </a:lnTo>
                  <a:cubicBezTo>
                    <a:pt x="13462" y="2247773"/>
                    <a:pt x="0" y="2234438"/>
                    <a:pt x="0" y="2217801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793706" y="1640513"/>
            <a:ext cx="448716" cy="448716"/>
            <a:chOff x="0" y="0"/>
            <a:chExt cx="598288" cy="598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ADD8E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917084" y="1738739"/>
            <a:ext cx="201960" cy="201960"/>
            <a:chOff x="0" y="0"/>
            <a:chExt cx="269280" cy="26928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269240" cy="269240"/>
            </a:xfrm>
            <a:custGeom>
              <a:avLst/>
              <a:gdLst/>
              <a:ahLst/>
              <a:cxnLst/>
              <a:rect r="r" b="b" t="t" l="l"/>
              <a:pathLst>
                <a:path h="269240" w="269240">
                  <a:moveTo>
                    <a:pt x="0" y="0"/>
                  </a:moveTo>
                  <a:lnTo>
                    <a:pt x="269240" y="0"/>
                  </a:lnTo>
                  <a:lnTo>
                    <a:pt x="269240" y="269240"/>
                  </a:lnTo>
                  <a:lnTo>
                    <a:pt x="0" y="269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4" b="-1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299529" y="1551027"/>
            <a:ext cx="5647284" cy="1685776"/>
            <a:chOff x="0" y="0"/>
            <a:chExt cx="7529712" cy="224770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529830" cy="2247773"/>
            </a:xfrm>
            <a:custGeom>
              <a:avLst/>
              <a:gdLst/>
              <a:ahLst/>
              <a:cxnLst/>
              <a:rect r="r" b="b" t="t" l="l"/>
              <a:pathLst>
                <a:path h="2247773" w="7529830">
                  <a:moveTo>
                    <a:pt x="0" y="29972"/>
                  </a:moveTo>
                  <a:cubicBezTo>
                    <a:pt x="0" y="13335"/>
                    <a:pt x="13335" y="0"/>
                    <a:pt x="29972" y="0"/>
                  </a:cubicBezTo>
                  <a:lnTo>
                    <a:pt x="7499858" y="0"/>
                  </a:lnTo>
                  <a:cubicBezTo>
                    <a:pt x="7516368" y="0"/>
                    <a:pt x="7529830" y="13335"/>
                    <a:pt x="7529830" y="29972"/>
                  </a:cubicBezTo>
                  <a:lnTo>
                    <a:pt x="7529830" y="2217801"/>
                  </a:lnTo>
                  <a:cubicBezTo>
                    <a:pt x="7529830" y="2234311"/>
                    <a:pt x="7516495" y="2247773"/>
                    <a:pt x="7499858" y="2247773"/>
                  </a:cubicBezTo>
                  <a:lnTo>
                    <a:pt x="29972" y="2247773"/>
                  </a:lnTo>
                  <a:cubicBezTo>
                    <a:pt x="13462" y="2247773"/>
                    <a:pt x="0" y="2234438"/>
                    <a:pt x="0" y="2217801"/>
                  </a:cubicBezTo>
                  <a:close/>
                </a:path>
              </a:pathLst>
            </a:custGeom>
            <a:solidFill>
              <a:srgbClr val="31525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685364" y="1698658"/>
            <a:ext cx="448716" cy="448716"/>
            <a:chOff x="0" y="0"/>
            <a:chExt cx="598288" cy="598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98297" cy="598297"/>
            </a:xfrm>
            <a:custGeom>
              <a:avLst/>
              <a:gdLst/>
              <a:ahLst/>
              <a:cxnLst/>
              <a:rect r="r" b="b" t="t" l="l"/>
              <a:pathLst>
                <a:path h="598297" w="598297">
                  <a:moveTo>
                    <a:pt x="0" y="299085"/>
                  </a:moveTo>
                  <a:cubicBezTo>
                    <a:pt x="0" y="133985"/>
                    <a:pt x="133985" y="0"/>
                    <a:pt x="299085" y="0"/>
                  </a:cubicBezTo>
                  <a:cubicBezTo>
                    <a:pt x="464185" y="0"/>
                    <a:pt x="598297" y="133985"/>
                    <a:pt x="598297" y="299085"/>
                  </a:cubicBezTo>
                  <a:cubicBezTo>
                    <a:pt x="598297" y="464185"/>
                    <a:pt x="464312" y="598297"/>
                    <a:pt x="299085" y="598297"/>
                  </a:cubicBezTo>
                  <a:cubicBezTo>
                    <a:pt x="133858" y="598297"/>
                    <a:pt x="0" y="464312"/>
                    <a:pt x="0" y="299085"/>
                  </a:cubicBezTo>
                  <a:close/>
                </a:path>
              </a:pathLst>
            </a:custGeom>
            <a:solidFill>
              <a:srgbClr val="ADD8E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808742" y="1796810"/>
            <a:ext cx="201960" cy="252412"/>
            <a:chOff x="0" y="0"/>
            <a:chExt cx="269280" cy="33655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269240" cy="336550"/>
            </a:xfrm>
            <a:custGeom>
              <a:avLst/>
              <a:gdLst/>
              <a:ahLst/>
              <a:cxnLst/>
              <a:rect r="r" b="b" t="t" l="l"/>
              <a:pathLst>
                <a:path h="336550" w="269240">
                  <a:moveTo>
                    <a:pt x="0" y="0"/>
                  </a:moveTo>
                  <a:lnTo>
                    <a:pt x="269240" y="0"/>
                  </a:lnTo>
                  <a:lnTo>
                    <a:pt x="269240" y="336550"/>
                  </a:lnTo>
                  <a:lnTo>
                    <a:pt x="0" y="336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36" r="-14" b="-1436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1672286" y="3629248"/>
            <a:ext cx="5981323" cy="5457957"/>
          </a:xfrm>
          <a:custGeom>
            <a:avLst/>
            <a:gdLst/>
            <a:ahLst/>
            <a:cxnLst/>
            <a:rect r="r" b="b" t="t" l="l"/>
            <a:pathLst>
              <a:path h="5457957" w="5981323">
                <a:moveTo>
                  <a:pt x="0" y="0"/>
                </a:moveTo>
                <a:lnTo>
                  <a:pt x="5981323" y="0"/>
                </a:lnTo>
                <a:lnTo>
                  <a:pt x="5981323" y="5457957"/>
                </a:lnTo>
                <a:lnTo>
                  <a:pt x="0" y="54579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98364" y="189136"/>
            <a:ext cx="12412339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4"/>
              </a:lnSpc>
            </a:pPr>
            <a:r>
              <a:rPr lang="en-US" sz="5499" b="true">
                <a:solidFill>
                  <a:srgbClr val="FFD9BE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Exploratory Data Analysis (EDA)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52983" y="1652019"/>
            <a:ext cx="2287270" cy="59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1874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Feature Distributions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1271" y="2308190"/>
            <a:ext cx="5347990" cy="675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8"/>
              </a:lnSpc>
            </a:pPr>
            <a:r>
              <a:rPr lang="en-US" sz="162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Analyze the distribution of individual features to understand their spread, skewness, and overall patterns.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467457" y="1611938"/>
            <a:ext cx="2136633" cy="593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1874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Correlation Analysis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44642" y="2307085"/>
            <a:ext cx="5348139" cy="675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8"/>
              </a:lnSpc>
            </a:pPr>
            <a:r>
              <a:rPr lang="en-US" sz="162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Investigate relationships between all variables using correlation matrices and heatmaps to detect associations.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292211" y="1696668"/>
            <a:ext cx="2741473" cy="30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1874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Target Variable Analysis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85279" y="2281535"/>
            <a:ext cx="5348139" cy="675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8"/>
              </a:lnSpc>
            </a:pPr>
            <a:r>
              <a:rPr lang="en-US" sz="162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Visualize the distribution of the target variable to check for class imbalance and key characteristics.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45083" y="3874978"/>
            <a:ext cx="17240845" cy="38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8"/>
              </a:lnSpc>
            </a:pPr>
            <a:r>
              <a:rPr lang="en-US" sz="192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Below is a correlation heatmap visualization illustrating the relationships between all variables.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96529" y="4820494"/>
            <a:ext cx="1900089" cy="35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2244" b="true">
                <a:solidFill>
                  <a:srgbClr val="FFD9BE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Key Findings: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98364" y="5537401"/>
            <a:ext cx="7706320" cy="132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3" indent="-160236" lvl="1">
              <a:lnSpc>
                <a:spcPts val="3541"/>
              </a:lnSpc>
              <a:buFont typeface="Arial"/>
              <a:buChar char="•"/>
            </a:pPr>
            <a:r>
              <a:rPr lang="en-US" sz="212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Strong positive correlation observed between certain liver enzymes (e.g., ALT and AST), which is expected in liver disease indicators.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23577" y="7058020"/>
            <a:ext cx="8182727" cy="874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3" indent="-160236" lvl="1">
              <a:lnSpc>
                <a:spcPts val="3541"/>
              </a:lnSpc>
              <a:buFont typeface="Arial"/>
              <a:buChar char="•"/>
            </a:pPr>
            <a:r>
              <a:rPr lang="en-US" sz="212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Moderate correlations between Age and Cholesterol, suggesting a relationship between these factors in the dataset.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45083" y="8130964"/>
            <a:ext cx="7990690" cy="132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3" indent="-160236" lvl="1">
              <a:lnSpc>
                <a:spcPts val="3541"/>
              </a:lnSpc>
              <a:buFont typeface="Arial"/>
              <a:buChar char="•"/>
            </a:pPr>
            <a:r>
              <a:rPr lang="en-US" sz="212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</a:t>
            </a:r>
            <a:r>
              <a:rPr lang="en-US" sz="2124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The target variable shows notable correlations with several features, indicating their         potential importance for prediction.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775990" y="669119"/>
            <a:ext cx="5217319" cy="87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8"/>
              </a:lnSpc>
            </a:pPr>
            <a:r>
              <a:rPr lang="en-US" sz="5499" b="true">
                <a:solidFill>
                  <a:srgbClr val="FFD9BE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Model Building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5990" y="1834253"/>
            <a:ext cx="4087073" cy="438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9"/>
              </a:lnSpc>
            </a:pPr>
            <a:r>
              <a:rPr lang="en-US" sz="2699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The models we used are: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5990" y="2610056"/>
            <a:ext cx="16736020" cy="71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2"/>
              </a:lnSpc>
            </a:pPr>
            <a:r>
              <a:rPr lang="en-US" sz="1787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LightGBM (Accuracy: 0.943089):</a:t>
            </a:r>
            <a:r>
              <a:rPr lang="en-US" sz="17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This gradient boosting framework uses tree-based learning, designed for efficiency and high accuracy, often outperforming other gradient boosting methods.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5990" y="3659089"/>
            <a:ext cx="16736020" cy="71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2"/>
              </a:lnSpc>
            </a:pPr>
            <a:r>
              <a:rPr lang="en-US" sz="1787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Random Forest (Accuracy: 0.934959):</a:t>
            </a:r>
            <a:r>
              <a:rPr lang="en-US" sz="17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An ensemble learning method that builds multiple decision trees and outputs the mode of their class predictions or mean prediction.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5990" y="4618136"/>
            <a:ext cx="16736020" cy="350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2"/>
              </a:lnSpc>
            </a:pPr>
            <a:r>
              <a:rPr lang="en-US" sz="1787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XGBoost (Accuracy: 0.926829):</a:t>
            </a:r>
            <a:r>
              <a:rPr lang="en-US" sz="17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An optimized and efficient distributed gradient boosting library known for solving data science problems quickly and accurately.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5990" y="5222379"/>
            <a:ext cx="16736020" cy="350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2"/>
              </a:lnSpc>
            </a:pPr>
            <a:r>
              <a:rPr lang="en-US" sz="1787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Logistic Regression (Accuracy: 0.926829):</a:t>
            </a:r>
            <a:r>
              <a:rPr lang="en-US" sz="17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A statistical model that estimates the probability of a certain class or event, widely used for binary classification.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5990" y="5829698"/>
            <a:ext cx="16736020" cy="71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2"/>
              </a:lnSpc>
            </a:pPr>
            <a:r>
              <a:rPr lang="en-US" sz="1787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Decision Tree (Accuracy: 0.918699):</a:t>
            </a:r>
            <a:r>
              <a:rPr lang="en-US" sz="17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A non-parametric supervised learning method that partitions data into subsets based on feature values, forming a tree-like decision structure.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5990" y="6785670"/>
            <a:ext cx="16736020" cy="71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2"/>
              </a:lnSpc>
            </a:pPr>
            <a:r>
              <a:rPr lang="en-US" sz="1787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KNN (K-Nearest Neighbors) (Accuracy: 0.918699):</a:t>
            </a:r>
            <a:r>
              <a:rPr lang="en-US" sz="17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A non-parametric, instance-based learning algorithm that classifies data points based on the majority class of their 'K' nearest neighbors.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5990" y="7744717"/>
            <a:ext cx="16736020" cy="71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2"/>
              </a:lnSpc>
            </a:pPr>
            <a:r>
              <a:rPr lang="en-US" sz="1787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Naive Bayes (Accuracy: 0.910569):</a:t>
            </a:r>
            <a:r>
              <a:rPr lang="en-US" sz="17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A probabilistic classifier based on Bayes' theorem, assuming independence between features, known for its simplicity and speed.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5990" y="8628261"/>
            <a:ext cx="16736020" cy="71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2"/>
              </a:lnSpc>
            </a:pPr>
            <a:r>
              <a:rPr lang="en-US" sz="1787" b="true">
                <a:solidFill>
                  <a:srgbClr val="F9EEE7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SVM (Support Vector Machine) (Accuracy: 0.910569):</a:t>
            </a:r>
            <a:r>
              <a:rPr lang="en-US" sz="1787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A supervised learning model that finds an optimal hyperplane to separate data points into different classes, maximizing the margin between them.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7941" y="502754"/>
            <a:ext cx="737475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4"/>
              </a:lnSpc>
            </a:pPr>
            <a:r>
              <a:rPr lang="en-US" sz="5499" b="true">
                <a:solidFill>
                  <a:srgbClr val="FFD9BE"/>
                </a:solidFill>
                <a:latin typeface="Quattrocento Bold"/>
                <a:ea typeface="Quattrocento Bold"/>
                <a:cs typeface="Quattrocento Bold"/>
                <a:sym typeface="Quattrocento Bold"/>
              </a:rPr>
              <a:t>Model  Evaluation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7941" y="1723685"/>
            <a:ext cx="16952119" cy="788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199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We explored various machine learning models for our task, evaluating their performance based on accuracy. Below is a summary of the models used, highlighting LightGBM as the top performer.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7941" y="3045544"/>
            <a:ext cx="16952119" cy="412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6704" indent="-158352" lvl="1">
              <a:lnSpc>
                <a:spcPts val="3324"/>
              </a:lnSpc>
              <a:buFont typeface="Arial"/>
              <a:buChar char="•"/>
            </a:pPr>
            <a:r>
              <a:rPr lang="en-US" sz="209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LightGBM: </a:t>
            </a:r>
            <a:r>
              <a:rPr lang="en-US" sz="2099">
                <a:solidFill>
                  <a:srgbClr val="00A000"/>
                </a:solidFill>
                <a:latin typeface="Quattrocento"/>
                <a:ea typeface="Quattrocento"/>
                <a:cs typeface="Quattrocento"/>
                <a:sym typeface="Quattrocento"/>
              </a:rPr>
              <a:t>0.943089 Accuracy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6134" y="3886285"/>
            <a:ext cx="16952119" cy="412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6704" indent="-158352" lvl="1">
              <a:lnSpc>
                <a:spcPts val="3324"/>
              </a:lnSpc>
              <a:buFont typeface="Arial"/>
              <a:buChar char="•"/>
            </a:pPr>
            <a:r>
              <a:rPr lang="en-US" sz="209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Random Forest: 0.934959 Accuracy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6134" y="4731384"/>
            <a:ext cx="16952119" cy="412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6704" indent="-158352" lvl="1">
              <a:lnSpc>
                <a:spcPts val="3324"/>
              </a:lnSpc>
              <a:buFont typeface="Arial"/>
              <a:buChar char="•"/>
            </a:pPr>
            <a:r>
              <a:rPr lang="en-US" sz="209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Logistic Regression: 0.926829 Accuracy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6134" y="5471065"/>
            <a:ext cx="16952119" cy="412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6704" indent="-158352" lvl="1">
              <a:lnSpc>
                <a:spcPts val="3324"/>
              </a:lnSpc>
              <a:buFont typeface="Arial"/>
              <a:buChar char="•"/>
            </a:pPr>
            <a:r>
              <a:rPr lang="en-US" sz="209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SVM (Support Vector Machine): 0.910569 Accuracy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7941" y="7384414"/>
            <a:ext cx="8591550" cy="1873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</a:pPr>
            <a:r>
              <a:rPr lang="en-US" sz="239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This confusion matrix illustrates the performance of our best-performing LightGBM model, demonstrating how effectively it classifies each disease category based on its predictions versus the actual outcomes.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890280" y="2512144"/>
            <a:ext cx="7235367" cy="5845225"/>
            <a:chOff x="0" y="0"/>
            <a:chExt cx="10526513" cy="8504038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0526522" cy="8504047"/>
            </a:xfrm>
            <a:custGeom>
              <a:avLst/>
              <a:gdLst/>
              <a:ahLst/>
              <a:cxnLst/>
              <a:rect r="r" b="b" t="t" l="l"/>
              <a:pathLst>
                <a:path h="8504047" w="10526522">
                  <a:moveTo>
                    <a:pt x="0" y="0"/>
                  </a:moveTo>
                  <a:lnTo>
                    <a:pt x="10526522" y="0"/>
                  </a:lnTo>
                  <a:lnTo>
                    <a:pt x="10526522" y="8504047"/>
                  </a:lnTo>
                  <a:lnTo>
                    <a:pt x="0" y="85040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0" r="0" b="-2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C4241"/>
          </a:solidFill>
          <a:ln>
            <a:noFill/>
          </a:ln>
        </p:spPr>
      </p:sp>
      <p:sp>
        <p:nvSpPr>
          <p:cNvPr id="40" name="Google Shape;40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23332"/>
          </a:solidFill>
          <a:ln>
            <a:noFill/>
          </a:ln>
        </p:spPr>
      </p:sp>
      <p:sp>
        <p:nvSpPr>
          <p:cNvPr id="41" name="Google Shape;41;p1"/>
          <p:cNvSpPr txBox="1"/>
          <p:nvPr/>
        </p:nvSpPr>
        <p:spPr>
          <a:xfrm>
            <a:off x="624234" y="333226"/>
            <a:ext cx="124620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3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Deployment </a:t>
            </a:r>
            <a:endParaRPr/>
          </a:p>
        </p:txBody>
      </p:sp>
      <p:sp>
        <p:nvSpPr>
          <p:cNvPr id="42" name="Google Shape;42;p1"/>
          <p:cNvSpPr txBox="1"/>
          <p:nvPr/>
        </p:nvSpPr>
        <p:spPr>
          <a:xfrm>
            <a:off x="793751" y="1399331"/>
            <a:ext cx="16700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49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Framework Used: Streamlit</a:t>
            </a:r>
            <a:endParaRPr/>
          </a:p>
        </p:txBody>
      </p:sp>
      <p:sp>
        <p:nvSpPr>
          <p:cNvPr id="43" name="Google Shape;43;p1"/>
          <p:cNvSpPr txBox="1"/>
          <p:nvPr/>
        </p:nvSpPr>
        <p:spPr>
          <a:xfrm>
            <a:off x="793701" y="1996905"/>
            <a:ext cx="16700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49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Execution Command: streamlit run app.py</a:t>
            </a:r>
            <a:endParaRPr/>
          </a:p>
        </p:txBody>
      </p:sp>
      <p:sp>
        <p:nvSpPr>
          <p:cNvPr id="44" name="Google Shape;44;p1"/>
          <p:cNvSpPr txBox="1"/>
          <p:nvPr/>
        </p:nvSpPr>
        <p:spPr>
          <a:xfrm>
            <a:off x="558701" y="2645702"/>
            <a:ext cx="42687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4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12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Deployment Steps</a:t>
            </a:r>
            <a:endParaRPr/>
          </a:p>
        </p:txBody>
      </p:sp>
      <p:sp>
        <p:nvSpPr>
          <p:cNvPr id="45" name="Google Shape;45;p1"/>
          <p:cNvSpPr txBox="1"/>
          <p:nvPr/>
        </p:nvSpPr>
        <p:spPr>
          <a:xfrm>
            <a:off x="2" y="3367088"/>
            <a:ext cx="170685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14400" marR="0" rtl="0" algn="l">
              <a:lnSpc>
                <a:spcPct val="160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9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1.</a:t>
            </a:r>
            <a:r>
              <a:rPr b="0" i="0" lang="en-US" sz="2049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Open CMD in project folder</a:t>
            </a:r>
            <a:endParaRPr/>
          </a:p>
        </p:txBody>
      </p:sp>
      <p:sp>
        <p:nvSpPr>
          <p:cNvPr id="46" name="Google Shape;46;p1"/>
          <p:cNvSpPr txBox="1"/>
          <p:nvPr/>
        </p:nvSpPr>
        <p:spPr>
          <a:xfrm>
            <a:off x="734541" y="3898661"/>
            <a:ext cx="16700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49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   2.Run `streamlit run app.py`</a:t>
            </a:r>
            <a:endParaRPr/>
          </a:p>
        </p:txBody>
      </p:sp>
      <p:sp>
        <p:nvSpPr>
          <p:cNvPr id="47" name="Google Shape;47;p1"/>
          <p:cNvSpPr txBox="1"/>
          <p:nvPr/>
        </p:nvSpPr>
        <p:spPr>
          <a:xfrm>
            <a:off x="793659" y="4447537"/>
            <a:ext cx="16700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49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   3.App opens in browser</a:t>
            </a:r>
            <a:endParaRPr/>
          </a:p>
        </p:txBody>
      </p:sp>
      <p:sp>
        <p:nvSpPr>
          <p:cNvPr id="48" name="Google Shape;48;p1"/>
          <p:cNvSpPr txBox="1"/>
          <p:nvPr/>
        </p:nvSpPr>
        <p:spPr>
          <a:xfrm>
            <a:off x="734551" y="5226824"/>
            <a:ext cx="49284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4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12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Deployment Flow</a:t>
            </a:r>
            <a:endParaRPr/>
          </a:p>
        </p:txBody>
      </p:sp>
      <p:sp>
        <p:nvSpPr>
          <p:cNvPr id="49" name="Google Shape;49;p1"/>
          <p:cNvSpPr txBox="1"/>
          <p:nvPr/>
        </p:nvSpPr>
        <p:spPr>
          <a:xfrm>
            <a:off x="793738" y="6006095"/>
            <a:ext cx="16700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7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49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Project Folder → CMD → Browser → Liver Disease App</a:t>
            </a:r>
            <a:endParaRPr/>
          </a:p>
        </p:txBody>
      </p:sp>
      <p:sp>
        <p:nvSpPr>
          <p:cNvPr id="50" name="Google Shape;50;p1"/>
          <p:cNvSpPr txBox="1"/>
          <p:nvPr/>
        </p:nvSpPr>
        <p:spPr>
          <a:xfrm>
            <a:off x="624234" y="6580046"/>
            <a:ext cx="42687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4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12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Final Outcomes</a:t>
            </a:r>
            <a:endParaRPr/>
          </a:p>
        </p:txBody>
      </p:sp>
      <p:sp>
        <p:nvSpPr>
          <p:cNvPr id="51" name="Google Shape;51;p1"/>
          <p:cNvSpPr txBox="1"/>
          <p:nvPr/>
        </p:nvSpPr>
        <p:spPr>
          <a:xfrm>
            <a:off x="793700" y="7325440"/>
            <a:ext cx="16700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4583" lvl="1" marL="309165" marR="0" rtl="0" algn="l">
              <a:lnSpc>
                <a:spcPct val="160761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049"/>
              <a:buFont typeface="Arial"/>
              <a:buChar char="•"/>
            </a:pPr>
            <a:r>
              <a:rPr b="0" i="0" lang="en-US" sz="2049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Interactive web app</a:t>
            </a:r>
            <a:endParaRPr/>
          </a:p>
        </p:txBody>
      </p:sp>
      <p:sp>
        <p:nvSpPr>
          <p:cNvPr id="52" name="Google Shape;52;p1"/>
          <p:cNvSpPr txBox="1"/>
          <p:nvPr/>
        </p:nvSpPr>
        <p:spPr>
          <a:xfrm>
            <a:off x="793700" y="7809991"/>
            <a:ext cx="16700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4583" lvl="1" marL="309165" marR="0" rtl="0" algn="l">
              <a:lnSpc>
                <a:spcPct val="160761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049"/>
              <a:buFont typeface="Arial"/>
              <a:buChar char="•"/>
            </a:pPr>
            <a:r>
              <a:rPr b="0" i="0" lang="en-US" sz="2049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Data overview &amp; analysis</a:t>
            </a:r>
            <a:endParaRPr/>
          </a:p>
        </p:txBody>
      </p:sp>
      <p:sp>
        <p:nvSpPr>
          <p:cNvPr id="53" name="Google Shape;53;p1"/>
          <p:cNvSpPr txBox="1"/>
          <p:nvPr/>
        </p:nvSpPr>
        <p:spPr>
          <a:xfrm>
            <a:off x="793700" y="8294541"/>
            <a:ext cx="16700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4583" lvl="1" marL="309165" marR="0" rtl="0" algn="l">
              <a:lnSpc>
                <a:spcPct val="160761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049"/>
              <a:buFont typeface="Arial"/>
              <a:buChar char="•"/>
            </a:pPr>
            <a:r>
              <a:rPr b="0" i="0" lang="en-US" sz="2049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Model training &amp; evaluation</a:t>
            </a:r>
            <a:endParaRPr/>
          </a:p>
        </p:txBody>
      </p:sp>
      <p:sp>
        <p:nvSpPr>
          <p:cNvPr id="54" name="Google Shape;54;p1"/>
          <p:cNvSpPr txBox="1"/>
          <p:nvPr/>
        </p:nvSpPr>
        <p:spPr>
          <a:xfrm>
            <a:off x="793701" y="8864817"/>
            <a:ext cx="16700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4583" lvl="1" marL="309165" marR="0" rtl="0" algn="l">
              <a:lnSpc>
                <a:spcPct val="160761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049"/>
              <a:buFont typeface="Arial"/>
              <a:buChar char="•"/>
            </a:pPr>
            <a:r>
              <a:rPr b="0" i="0" lang="en-US" sz="2049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Real-time predictions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C4241"/>
          </a:solidFill>
          <a:ln>
            <a:noFill/>
          </a:ln>
        </p:spPr>
      </p:sp>
      <p:sp>
        <p:nvSpPr>
          <p:cNvPr id="73" name="Google Shape;73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23332"/>
          </a:solidFill>
          <a:ln>
            <a:noFill/>
          </a:ln>
        </p:spPr>
      </p:sp>
      <p:sp>
        <p:nvSpPr>
          <p:cNvPr id="74" name="Google Shape;74;p2"/>
          <p:cNvSpPr txBox="1"/>
          <p:nvPr/>
        </p:nvSpPr>
        <p:spPr>
          <a:xfrm>
            <a:off x="1047155" y="829568"/>
            <a:ext cx="70407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00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Output Screen</a:t>
            </a:r>
            <a:endParaRPr/>
          </a:p>
        </p:txBody>
      </p:sp>
      <p:sp>
        <p:nvSpPr>
          <p:cNvPr descr="preencoded.png" id="75" name="Google Shape;75;p2"/>
          <p:cNvSpPr/>
          <p:nvPr/>
        </p:nvSpPr>
        <p:spPr>
          <a:xfrm>
            <a:off x="1047155" y="2186880"/>
            <a:ext cx="16193643" cy="7241858"/>
          </a:xfrm>
          <a:custGeom>
            <a:rect b="b" l="l" r="r" t="t"/>
            <a:pathLst>
              <a:path extrusionOk="0" h="9655810" w="21591524">
                <a:moveTo>
                  <a:pt x="0" y="0"/>
                </a:moveTo>
                <a:lnTo>
                  <a:pt x="21591524" y="0"/>
                </a:lnTo>
                <a:lnTo>
                  <a:pt x="21591524" y="9655810"/>
                </a:lnTo>
                <a:lnTo>
                  <a:pt x="0" y="96558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-9" r="-19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C4241"/>
          </a:solidFill>
          <a:ln>
            <a:noFill/>
          </a:ln>
        </p:spPr>
      </p:sp>
      <p:sp>
        <p:nvSpPr>
          <p:cNvPr id="78" name="Google Shape;78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23332"/>
          </a:solidFill>
          <a:ln>
            <a:noFill/>
          </a:ln>
        </p:spPr>
      </p:sp>
      <p:sp>
        <p:nvSpPr>
          <p:cNvPr id="79" name="Google Shape;79;p3"/>
          <p:cNvSpPr txBox="1"/>
          <p:nvPr/>
        </p:nvSpPr>
        <p:spPr>
          <a:xfrm>
            <a:off x="891629" y="673150"/>
            <a:ext cx="95748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9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Conclusion and Future Scope</a:t>
            </a:r>
            <a:endParaRPr/>
          </a:p>
        </p:txBody>
      </p:sp>
      <p:sp>
        <p:nvSpPr>
          <p:cNvPr id="80" name="Google Shape;80;p3"/>
          <p:cNvSpPr txBox="1"/>
          <p:nvPr/>
        </p:nvSpPr>
        <p:spPr>
          <a:xfrm>
            <a:off x="891629" y="2263081"/>
            <a:ext cx="35970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4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12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Conclusion</a:t>
            </a:r>
            <a:endParaRPr/>
          </a:p>
        </p:txBody>
      </p:sp>
      <p:sp>
        <p:nvSpPr>
          <p:cNvPr id="81" name="Google Shape;81;p3"/>
          <p:cNvSpPr txBox="1"/>
          <p:nvPr/>
        </p:nvSpPr>
        <p:spPr>
          <a:xfrm>
            <a:off x="891629" y="2953023"/>
            <a:ext cx="16504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0812" lvl="1" marL="301625" marR="0" rtl="0" algn="l">
              <a:lnSpc>
                <a:spcPct val="15935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Built an interactive </a:t>
            </a:r>
            <a:r>
              <a:rPr b="1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Liver Disease Prediction App</a:t>
            </a:r>
            <a:r>
              <a:rPr b="0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using Streamlit</a:t>
            </a:r>
            <a:endParaRPr/>
          </a:p>
        </p:txBody>
      </p:sp>
      <p:sp>
        <p:nvSpPr>
          <p:cNvPr id="82" name="Google Shape;82;p3"/>
          <p:cNvSpPr txBox="1"/>
          <p:nvPr/>
        </p:nvSpPr>
        <p:spPr>
          <a:xfrm>
            <a:off x="891629" y="3360663"/>
            <a:ext cx="16504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0812" lvl="1" marL="301625" marR="0" rtl="0" algn="l">
              <a:lnSpc>
                <a:spcPct val="15935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Successfully performed </a:t>
            </a:r>
            <a:r>
              <a:rPr b="1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data preprocessing, analysis, model training, and evaluation</a:t>
            </a:r>
            <a:endParaRPr/>
          </a:p>
        </p:txBody>
      </p:sp>
      <p:sp>
        <p:nvSpPr>
          <p:cNvPr id="83" name="Google Shape;83;p3"/>
          <p:cNvSpPr txBox="1"/>
          <p:nvPr/>
        </p:nvSpPr>
        <p:spPr>
          <a:xfrm>
            <a:off x="891629" y="3969755"/>
            <a:ext cx="16504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0812" lvl="1" marL="301625" marR="0" rtl="0" algn="l">
              <a:lnSpc>
                <a:spcPct val="15935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Achieved reliable results with models like </a:t>
            </a:r>
            <a:r>
              <a:rPr b="1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LGBM </a:t>
            </a:r>
            <a:r>
              <a:rPr b="0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,</a:t>
            </a:r>
            <a:r>
              <a:rPr b="1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Random Forest, Logistic Regression, and SVM</a:t>
            </a:r>
            <a:endParaRPr/>
          </a:p>
        </p:txBody>
      </p:sp>
      <p:sp>
        <p:nvSpPr>
          <p:cNvPr id="84" name="Google Shape;84;p3"/>
          <p:cNvSpPr txBox="1"/>
          <p:nvPr/>
        </p:nvSpPr>
        <p:spPr>
          <a:xfrm>
            <a:off x="891629" y="4492229"/>
            <a:ext cx="16504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0812" lvl="1" marL="301625" marR="0" rtl="0" algn="l">
              <a:lnSpc>
                <a:spcPct val="15935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Provides </a:t>
            </a:r>
            <a:r>
              <a:rPr b="1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real-time predictions</a:t>
            </a:r>
            <a:r>
              <a:rPr b="0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based on patient input features</a:t>
            </a:r>
            <a:endParaRPr/>
          </a:p>
        </p:txBody>
      </p:sp>
      <p:sp>
        <p:nvSpPr>
          <p:cNvPr id="85" name="Google Shape;85;p3"/>
          <p:cNvSpPr txBox="1"/>
          <p:nvPr/>
        </p:nvSpPr>
        <p:spPr>
          <a:xfrm>
            <a:off x="891629" y="5324952"/>
            <a:ext cx="3597000" cy="4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4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12" u="none" cap="none" strike="noStrike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Future Scope</a:t>
            </a:r>
            <a:endParaRPr/>
          </a:p>
        </p:txBody>
      </p:sp>
      <p:sp>
        <p:nvSpPr>
          <p:cNvPr id="86" name="Google Shape;86;p3"/>
          <p:cNvSpPr txBox="1"/>
          <p:nvPr/>
        </p:nvSpPr>
        <p:spPr>
          <a:xfrm>
            <a:off x="891629" y="6012687"/>
            <a:ext cx="16504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0812" lvl="1" marL="301625" marR="0" rtl="0" algn="l">
              <a:lnSpc>
                <a:spcPct val="15935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Improve accuracy with </a:t>
            </a:r>
            <a:r>
              <a:rPr b="1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advanced ML/DL models</a:t>
            </a:r>
            <a:endParaRPr/>
          </a:p>
        </p:txBody>
      </p:sp>
      <p:sp>
        <p:nvSpPr>
          <p:cNvPr id="87" name="Google Shape;87;p3"/>
          <p:cNvSpPr txBox="1"/>
          <p:nvPr/>
        </p:nvSpPr>
        <p:spPr>
          <a:xfrm>
            <a:off x="891629" y="6620352"/>
            <a:ext cx="16504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0812" lvl="1" marL="301625" marR="0" rtl="0" algn="l">
              <a:lnSpc>
                <a:spcPct val="15935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Deploy on </a:t>
            </a:r>
            <a:r>
              <a:rPr b="1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cloud platforms</a:t>
            </a:r>
            <a:r>
              <a:rPr b="0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(Streamlit Cloud, Heroku, AWS) for global access</a:t>
            </a:r>
            <a:endParaRPr/>
          </a:p>
        </p:txBody>
      </p:sp>
      <p:sp>
        <p:nvSpPr>
          <p:cNvPr id="88" name="Google Shape;88;p3"/>
          <p:cNvSpPr txBox="1"/>
          <p:nvPr/>
        </p:nvSpPr>
        <p:spPr>
          <a:xfrm>
            <a:off x="891629" y="7142292"/>
            <a:ext cx="16504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0812" lvl="1" marL="301625" marR="0" rtl="0" algn="l">
              <a:lnSpc>
                <a:spcPct val="15935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Integrate with </a:t>
            </a:r>
            <a:r>
              <a:rPr b="1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real-time medical databases / hospital systems</a:t>
            </a:r>
            <a:endParaRPr/>
          </a:p>
        </p:txBody>
      </p:sp>
      <p:sp>
        <p:nvSpPr>
          <p:cNvPr id="89" name="Google Shape;89;p3"/>
          <p:cNvSpPr txBox="1"/>
          <p:nvPr/>
        </p:nvSpPr>
        <p:spPr>
          <a:xfrm>
            <a:off x="891629" y="7664232"/>
            <a:ext cx="16504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0812" lvl="1" marL="301625" marR="0" rtl="0" algn="l">
              <a:lnSpc>
                <a:spcPct val="15935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Add </a:t>
            </a:r>
            <a:r>
              <a:rPr b="1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visual dashboards</a:t>
            </a:r>
            <a:r>
              <a:rPr b="0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 for doctors and healthcare professionals</a:t>
            </a:r>
            <a:endParaRPr/>
          </a:p>
        </p:txBody>
      </p:sp>
      <p:sp>
        <p:nvSpPr>
          <p:cNvPr id="90" name="Google Shape;90;p3"/>
          <p:cNvSpPr txBox="1"/>
          <p:nvPr/>
        </p:nvSpPr>
        <p:spPr>
          <a:xfrm>
            <a:off x="891629" y="8271897"/>
            <a:ext cx="165048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0812" lvl="1" marL="301625" marR="0" rtl="0" algn="l">
              <a:lnSpc>
                <a:spcPct val="159350"/>
              </a:lnSpc>
              <a:spcBef>
                <a:spcPts val="0"/>
              </a:spcBef>
              <a:spcAft>
                <a:spcPts val="0"/>
              </a:spcAft>
              <a:buClr>
                <a:srgbClr val="F9EEE7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Enhance user interface with </a:t>
            </a:r>
            <a:r>
              <a:rPr b="1" i="0" lang="en-US" sz="2000" u="none" cap="none" strike="noStrike">
                <a:solidFill>
                  <a:srgbClr val="F9EEE7"/>
                </a:solidFill>
                <a:latin typeface="Quattrocento"/>
                <a:ea typeface="Quattrocento"/>
                <a:cs typeface="Quattrocento"/>
                <a:sym typeface="Quattrocento"/>
              </a:rPr>
              <a:t>mobile-friendly designgremve that thankyou in picture give like that related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4241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33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2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7155" y="4196804"/>
            <a:ext cx="9335691" cy="182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12"/>
              </a:lnSpc>
            </a:pPr>
            <a:r>
              <a:rPr lang="en-US" sz="11062">
                <a:solidFill>
                  <a:srgbClr val="FFD9BE"/>
                </a:solidFill>
                <a:latin typeface="Quattrocento"/>
                <a:ea typeface="Quattrocento"/>
                <a:cs typeface="Quattrocento"/>
                <a:sym typeface="Quattrocent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